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7" r:id="rId5"/>
    <p:sldId id="270" r:id="rId6"/>
    <p:sldId id="268" r:id="rId7"/>
    <p:sldId id="261" r:id="rId8"/>
    <p:sldId id="264" r:id="rId9"/>
    <p:sldId id="269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1725F-9C65-4FBB-A1E0-36A97A5C5CDC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46F7F-423C-45BC-B360-E62F74642E3E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1887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b54e09a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b54e09a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C0E713-9B35-94AD-B858-9609A2A2F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72C21F-FF52-9E71-C53D-EB0A15159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9680F-78EB-7FB1-A879-9244BE68C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FFC25E-3554-28CC-F698-2E8E0C1CA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2E32FC-8C18-0E9F-FF69-4FB84BEF2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237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980B0-F5FE-6DC8-41B9-10DBF3E6F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58108D-A4D3-CFF2-C15B-649436DB7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A5261D-7755-AA91-972A-C5B83FB71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B637D6-820F-B751-57AA-38115456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84DC65-9ECD-8A04-E275-0A9995F43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223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BC1B3-C87C-5630-DF7E-8565BE7A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AA491-821B-504F-B3B1-6987625E7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1EA01B-060B-CE8F-9FA2-230789309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6E516-CA70-2CB7-F9A7-1539317F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E01960-CB30-8E7C-C05B-C8034E5CA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378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FC189D-2719-F163-21CB-C5AEC7B03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F08255-1CF0-7C73-CF66-02A0D0DF0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736DE71-A2EA-8FF7-2345-FC92D00F93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42A206-4083-FB4B-8F1F-6E369C23C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26FFCD-1192-A3E4-CBF3-EE477F6D9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7E7B7D-35B1-0F81-8F21-A676BA7B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534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5CB91-BE04-D7C7-0BC7-149FDD59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527CD7-2B21-2D86-FE31-8DF685EE1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B8818B-B614-6F7D-D62A-3A82C84A9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20B8D6-4E96-93E6-02BB-CE6FB410F0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F65668A-C153-4EB1-8AEE-77B9A3A0E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4701952-BFF7-E936-8CDD-A375F2B94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DABB7A8-38FA-4E46-061D-243234E3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48A9C1E-F5F2-E408-FA93-233D7C6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412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32DFF9-234F-A804-10D7-A5DA7820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0E9C7F-811F-AB09-3283-673835948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0E62613-F317-B30A-2FD8-641ED9327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73DB10-BF78-0EE9-D5FA-6B7486A5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6365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51E4041-C421-1EA2-F59F-7BFACACDF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C1108BB-1295-89D9-EA47-570BFA16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7DE548-1329-CDAA-CBF9-DB2E4F3B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734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0D659-1CE4-F8C8-7A97-08913A09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209A63-7A81-00FF-E849-246EE3222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A988D2-2C35-F1D9-4CB7-9818E43DC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991DE-5789-7613-8E0B-085D26681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65ACDC-ECD3-D9FC-4D6C-81E59C14D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A6431B-2941-F58F-3C34-381606C4F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727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69E19-B2BD-4F3D-4C8D-3E6F8B332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7226AA-F1A3-6186-8374-01DD40867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78F677-4CA4-133B-CD16-1546E4A436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0DB3C2D-63A8-CC24-06AD-DF1EBF838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97F4D4-AC57-ED95-607C-8200A516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41E4D95-FEFB-8816-F112-2E572C155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6097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947B7-8EF1-5825-29A7-7BD290D5A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4A0FA1B-F5C5-E35A-CCA3-B2145D51D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AB90AB-DC6B-FB01-B67B-19C2D1793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1D52E9-8A8F-FD6E-1A7B-3FA6C7654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AA53F-C662-57C5-A149-0B350A11C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0782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4EBF13-DAC4-BAEE-E238-2D1875C63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F0D985F-5F26-2A12-AFA1-5C0F2098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A223A8-E4C1-B524-B286-9C2F256FA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14B0A0-7789-2636-03C5-336D89CBD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98BAF68-1843-F4CF-ADCC-1C5C1F797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4041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280908-65DA-92DE-8E35-5566865A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7B57D-2018-D249-172C-F8540E51A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5FB3D-BFD7-CA7E-0182-8C9F0FBDE5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7FDF7-407D-4762-906B-005915435A65}" type="datetimeFigureOut">
              <a:rPr lang="es-PE" smtClean="0"/>
              <a:t>26/02/2026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982E0-B9CE-69AC-E7C8-CF97502F3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C93265-E21A-0857-AFD0-71C5703D2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67849-DF76-437C-A7F4-B9A51305789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420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99843" y="863540"/>
            <a:ext cx="11360800" cy="162074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s-419" dirty="0"/>
              <a:t>EXAMEN FINAL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171858" y="2484288"/>
            <a:ext cx="9848283" cy="3002111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 algn="ctr">
              <a:buNone/>
            </a:pPr>
            <a:r>
              <a:rPr lang="es-419" sz="3600" dirty="0">
                <a:solidFill>
                  <a:schemeClr val="dk1"/>
                </a:solidFill>
              </a:rPr>
              <a:t>Curso: Ingeniería de Requisitos</a:t>
            </a:r>
          </a:p>
          <a:p>
            <a:pPr marL="0" indent="0" algn="ctr">
              <a:buNone/>
            </a:pPr>
            <a:r>
              <a:rPr lang="es-419" sz="3600" dirty="0">
                <a:solidFill>
                  <a:schemeClr val="dk1"/>
                </a:solidFill>
              </a:rPr>
              <a:t>1ASI0786</a:t>
            </a:r>
            <a:br>
              <a:rPr lang="es-419" sz="3600" dirty="0">
                <a:solidFill>
                  <a:schemeClr val="dk1"/>
                </a:solidFill>
              </a:rPr>
            </a:br>
            <a:r>
              <a:rPr lang="es-PE" sz="3600" dirty="0"/>
              <a:t>NRC:</a:t>
            </a:r>
          </a:p>
          <a:p>
            <a:pPr marL="0" indent="0" algn="ctr">
              <a:buNone/>
            </a:pPr>
            <a:r>
              <a:rPr lang="es-PE" sz="3600" dirty="0"/>
              <a:t>Nombres y apellidos: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62;p14">
            <a:extLst>
              <a:ext uri="{FF2B5EF4-FFF2-40B4-BE49-F238E27FC236}">
                <a16:creationId xmlns:a16="http://schemas.microsoft.com/office/drawing/2014/main" id="{12121F55-FF48-E7CC-161A-FD1B4EEC76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3974648"/>
              </p:ext>
            </p:extLst>
          </p:nvPr>
        </p:nvGraphicFramePr>
        <p:xfrm>
          <a:off x="636104" y="1152939"/>
          <a:ext cx="10735321" cy="3979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74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0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33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3200" b="1" dirty="0" err="1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Epic</a:t>
                      </a:r>
                      <a:endParaRPr sz="32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80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Enunciado</a:t>
                      </a:r>
                      <a:endParaRPr sz="28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36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sz="3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36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sz="3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743490914"/>
                  </a:ext>
                </a:extLst>
              </a:tr>
              <a:tr h="106192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360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endParaRPr sz="3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89984809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A072CB6C-7D4E-FC27-E052-15A3128EEE87}"/>
              </a:ext>
            </a:extLst>
          </p:cNvPr>
          <p:cNvSpPr txBox="1"/>
          <p:nvPr/>
        </p:nvSpPr>
        <p:spPr>
          <a:xfrm>
            <a:off x="820575" y="236306"/>
            <a:ext cx="21771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/>
              <a:t>a) EPICS: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90593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907DBB3-68F9-0DB1-32C1-B795448E2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11009"/>
              </p:ext>
            </p:extLst>
          </p:nvPr>
        </p:nvGraphicFramePr>
        <p:xfrm>
          <a:off x="1280534" y="1597836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PE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E6AAF8E-68F6-46DB-20DF-6C08E5CD8611}"/>
              </a:ext>
            </a:extLst>
          </p:cNvPr>
          <p:cNvSpPr txBox="1"/>
          <p:nvPr/>
        </p:nvSpPr>
        <p:spPr>
          <a:xfrm>
            <a:off x="352761" y="146513"/>
            <a:ext cx="933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/>
              <a:t>b) USER STORIES EPIC 1</a:t>
            </a:r>
            <a:endParaRPr lang="es-PE" sz="44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6257BB8-B544-6DB5-3394-416B4B47E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70609"/>
              </p:ext>
            </p:extLst>
          </p:nvPr>
        </p:nvGraphicFramePr>
        <p:xfrm>
          <a:off x="1280534" y="3791308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PE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99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907DBB3-68F9-0DB1-32C1-B795448E2B91}"/>
              </a:ext>
            </a:extLst>
          </p:cNvPr>
          <p:cNvGraphicFramePr>
            <a:graphicFrameLocks noGrp="1"/>
          </p:cNvGraphicFramePr>
          <p:nvPr/>
        </p:nvGraphicFramePr>
        <p:xfrm>
          <a:off x="1280534" y="1597836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PE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E6AAF8E-68F6-46DB-20DF-6C08E5CD8611}"/>
              </a:ext>
            </a:extLst>
          </p:cNvPr>
          <p:cNvSpPr txBox="1"/>
          <p:nvPr/>
        </p:nvSpPr>
        <p:spPr>
          <a:xfrm>
            <a:off x="352761" y="146513"/>
            <a:ext cx="933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/>
              <a:t>b) USER STORIES EPIC 2</a:t>
            </a:r>
            <a:endParaRPr lang="es-PE" sz="44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6257BB8-B544-6DB5-3394-416B4B47EE6E}"/>
              </a:ext>
            </a:extLst>
          </p:cNvPr>
          <p:cNvGraphicFramePr>
            <a:graphicFrameLocks noGrp="1"/>
          </p:cNvGraphicFramePr>
          <p:nvPr/>
        </p:nvGraphicFramePr>
        <p:xfrm>
          <a:off x="1280534" y="3791308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PE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672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F7325-877D-445F-07BF-3696D1E9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B5E75216-3AB2-3927-D5B5-122A0B97D9E7}"/>
              </a:ext>
            </a:extLst>
          </p:cNvPr>
          <p:cNvGraphicFramePr>
            <a:graphicFrameLocks noGrp="1"/>
          </p:cNvGraphicFramePr>
          <p:nvPr/>
        </p:nvGraphicFramePr>
        <p:xfrm>
          <a:off x="1280534" y="1597836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PE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379E9BDB-2602-E325-235C-A15E394AF675}"/>
              </a:ext>
            </a:extLst>
          </p:cNvPr>
          <p:cNvSpPr txBox="1"/>
          <p:nvPr/>
        </p:nvSpPr>
        <p:spPr>
          <a:xfrm>
            <a:off x="352761" y="146513"/>
            <a:ext cx="933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/>
              <a:t>b) USER STORIES EPIC 3</a:t>
            </a:r>
            <a:endParaRPr lang="es-PE" sz="44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396BB67-7F08-7E3A-4520-1E369937CBD5}"/>
              </a:ext>
            </a:extLst>
          </p:cNvPr>
          <p:cNvGraphicFramePr>
            <a:graphicFrameLocks noGrp="1"/>
          </p:cNvGraphicFramePr>
          <p:nvPr/>
        </p:nvGraphicFramePr>
        <p:xfrm>
          <a:off x="1280534" y="3791308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PE" sz="16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EPIC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2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907DBB3-68F9-0DB1-32C1-B795448E2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662957"/>
              </p:ext>
            </p:extLst>
          </p:nvPr>
        </p:nvGraphicFramePr>
        <p:xfrm>
          <a:off x="1280534" y="1597836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6257BB8-B544-6DB5-3394-416B4B47E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67295"/>
              </p:ext>
            </p:extLst>
          </p:nvPr>
        </p:nvGraphicFramePr>
        <p:xfrm>
          <a:off x="1280534" y="3293289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B4DBC62D-4ADC-6798-608D-EBEFEA1668F4}"/>
              </a:ext>
            </a:extLst>
          </p:cNvPr>
          <p:cNvSpPr txBox="1"/>
          <p:nvPr/>
        </p:nvSpPr>
        <p:spPr>
          <a:xfrm>
            <a:off x="352761" y="146513"/>
            <a:ext cx="93382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/>
              <a:t>c) USER STORIES NO FUNCIONALES</a:t>
            </a:r>
            <a:endParaRPr lang="es-PE" sz="4400"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725133-C0F0-6E9F-15B8-AF37EF5C0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829929"/>
              </p:ext>
            </p:extLst>
          </p:nvPr>
        </p:nvGraphicFramePr>
        <p:xfrm>
          <a:off x="1280534" y="4988742"/>
          <a:ext cx="9870186" cy="12465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24735">
                  <a:extLst>
                    <a:ext uri="{9D8B030D-6E8A-4147-A177-3AD203B41FA5}">
                      <a16:colId xmlns:a16="http://schemas.microsoft.com/office/drawing/2014/main" val="3477008046"/>
                    </a:ext>
                  </a:extLst>
                </a:gridCol>
                <a:gridCol w="2710358">
                  <a:extLst>
                    <a:ext uri="{9D8B030D-6E8A-4147-A177-3AD203B41FA5}">
                      <a16:colId xmlns:a16="http://schemas.microsoft.com/office/drawing/2014/main" val="417786215"/>
                    </a:ext>
                  </a:extLst>
                </a:gridCol>
                <a:gridCol w="1558779">
                  <a:extLst>
                    <a:ext uri="{9D8B030D-6E8A-4147-A177-3AD203B41FA5}">
                      <a16:colId xmlns:a16="http://schemas.microsoft.com/office/drawing/2014/main" val="4259405658"/>
                    </a:ext>
                  </a:extLst>
                </a:gridCol>
                <a:gridCol w="3376314">
                  <a:extLst>
                    <a:ext uri="{9D8B030D-6E8A-4147-A177-3AD203B41FA5}">
                      <a16:colId xmlns:a16="http://schemas.microsoft.com/office/drawing/2014/main" val="1784781740"/>
                    </a:ext>
                  </a:extLst>
                </a:gridCol>
              </a:tblGrid>
              <a:tr h="545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 err="1"/>
                        <a:t>User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Story</a:t>
                      </a:r>
                      <a:r>
                        <a:rPr lang="es-ES" sz="1600" dirty="0"/>
                        <a:t> ID</a:t>
                      </a:r>
                      <a:endParaRPr lang="es-PE" sz="1600"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57740"/>
                  </a:ext>
                </a:extLst>
              </a:tr>
              <a:tr h="43649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Título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314334"/>
                  </a:ext>
                </a:extLst>
              </a:tr>
              <a:tr h="264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s-ES" sz="1600" dirty="0">
                          <a:effectLst/>
                        </a:rPr>
                        <a:t>Descripción</a:t>
                      </a:r>
                      <a:endParaRPr lang="es-PE" sz="28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PE" sz="1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808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08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BD48A9A1-76CD-E7C2-27FC-DEEE57554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43585"/>
              </p:ext>
            </p:extLst>
          </p:nvPr>
        </p:nvGraphicFramePr>
        <p:xfrm>
          <a:off x="495442" y="1182231"/>
          <a:ext cx="10885572" cy="243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157">
                  <a:extLst>
                    <a:ext uri="{9D8B030D-6E8A-4147-A177-3AD203B41FA5}">
                      <a16:colId xmlns:a16="http://schemas.microsoft.com/office/drawing/2014/main" val="783578685"/>
                    </a:ext>
                  </a:extLst>
                </a:gridCol>
                <a:gridCol w="2155371">
                  <a:extLst>
                    <a:ext uri="{9D8B030D-6E8A-4147-A177-3AD203B41FA5}">
                      <a16:colId xmlns:a16="http://schemas.microsoft.com/office/drawing/2014/main" val="100957858"/>
                    </a:ext>
                  </a:extLst>
                </a:gridCol>
                <a:gridCol w="2816679">
                  <a:extLst>
                    <a:ext uri="{9D8B030D-6E8A-4147-A177-3AD203B41FA5}">
                      <a16:colId xmlns:a16="http://schemas.microsoft.com/office/drawing/2014/main" val="403414338"/>
                    </a:ext>
                  </a:extLst>
                </a:gridCol>
                <a:gridCol w="1020535">
                  <a:extLst>
                    <a:ext uri="{9D8B030D-6E8A-4147-A177-3AD203B41FA5}">
                      <a16:colId xmlns:a16="http://schemas.microsoft.com/office/drawing/2014/main" val="3871625267"/>
                    </a:ext>
                  </a:extLst>
                </a:gridCol>
                <a:gridCol w="3835830">
                  <a:extLst>
                    <a:ext uri="{9D8B030D-6E8A-4147-A177-3AD203B41FA5}">
                      <a16:colId xmlns:a16="http://schemas.microsoft.com/office/drawing/2014/main" val="3322263508"/>
                    </a:ext>
                  </a:extLst>
                </a:gridCol>
              </a:tblGrid>
              <a:tr h="57488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User Story ID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Título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Descripción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Story </a:t>
                      </a:r>
                      <a:r>
                        <a:rPr lang="es-ES" dirty="0" err="1"/>
                        <a:t>Points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Justificación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56707"/>
                  </a:ext>
                </a:extLst>
              </a:tr>
              <a:tr h="880023"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6959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232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27ECA1-1E05-0847-8A31-EC4A8BA05F95}"/>
              </a:ext>
            </a:extLst>
          </p:cNvPr>
          <p:cNvSpPr txBox="1"/>
          <p:nvPr/>
        </p:nvSpPr>
        <p:spPr>
          <a:xfrm>
            <a:off x="820575" y="236306"/>
            <a:ext cx="42270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/>
              <a:t>d) STORY POINTS: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1369018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BD48A9A1-76CD-E7C2-27FC-DEEE57554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28686"/>
              </p:ext>
            </p:extLst>
          </p:nvPr>
        </p:nvGraphicFramePr>
        <p:xfrm>
          <a:off x="776762" y="1208736"/>
          <a:ext cx="10375652" cy="2369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852">
                  <a:extLst>
                    <a:ext uri="{9D8B030D-6E8A-4147-A177-3AD203B41FA5}">
                      <a16:colId xmlns:a16="http://schemas.microsoft.com/office/drawing/2014/main" val="783578685"/>
                    </a:ext>
                  </a:extLst>
                </a:gridCol>
                <a:gridCol w="2432957">
                  <a:extLst>
                    <a:ext uri="{9D8B030D-6E8A-4147-A177-3AD203B41FA5}">
                      <a16:colId xmlns:a16="http://schemas.microsoft.com/office/drawing/2014/main" val="100957858"/>
                    </a:ext>
                  </a:extLst>
                </a:gridCol>
                <a:gridCol w="6253843">
                  <a:extLst>
                    <a:ext uri="{9D8B030D-6E8A-4147-A177-3AD203B41FA5}">
                      <a16:colId xmlns:a16="http://schemas.microsoft.com/office/drawing/2014/main" val="403414338"/>
                    </a:ext>
                  </a:extLst>
                </a:gridCol>
              </a:tblGrid>
              <a:tr h="57488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User Story ID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Título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Criterios de Aceptación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56707"/>
                  </a:ext>
                </a:extLst>
              </a:tr>
              <a:tr h="880023"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6959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232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27ECA1-1E05-0847-8A31-EC4A8BA05F95}"/>
              </a:ext>
            </a:extLst>
          </p:cNvPr>
          <p:cNvSpPr txBox="1"/>
          <p:nvPr/>
        </p:nvSpPr>
        <p:spPr>
          <a:xfrm>
            <a:off x="820575" y="236306"/>
            <a:ext cx="609391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/>
              <a:t>e) Criterios de Aceptación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56300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BD48A9A1-76CD-E7C2-27FC-DEEE57554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222705"/>
              </p:ext>
            </p:extLst>
          </p:nvPr>
        </p:nvGraphicFramePr>
        <p:xfrm>
          <a:off x="776762" y="1208736"/>
          <a:ext cx="10375652" cy="2369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852">
                  <a:extLst>
                    <a:ext uri="{9D8B030D-6E8A-4147-A177-3AD203B41FA5}">
                      <a16:colId xmlns:a16="http://schemas.microsoft.com/office/drawing/2014/main" val="783578685"/>
                    </a:ext>
                  </a:extLst>
                </a:gridCol>
                <a:gridCol w="2163536">
                  <a:extLst>
                    <a:ext uri="{9D8B030D-6E8A-4147-A177-3AD203B41FA5}">
                      <a16:colId xmlns:a16="http://schemas.microsoft.com/office/drawing/2014/main" val="100957858"/>
                    </a:ext>
                  </a:extLst>
                </a:gridCol>
                <a:gridCol w="6523264">
                  <a:extLst>
                    <a:ext uri="{9D8B030D-6E8A-4147-A177-3AD203B41FA5}">
                      <a16:colId xmlns:a16="http://schemas.microsoft.com/office/drawing/2014/main" val="403414338"/>
                    </a:ext>
                  </a:extLst>
                </a:gridCol>
              </a:tblGrid>
              <a:tr h="57488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User Story ID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Título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Pruebas de Aceptación</a:t>
                      </a:r>
                      <a:endParaRPr lang="es-PE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256707"/>
                  </a:ext>
                </a:extLst>
              </a:tr>
              <a:tr h="880023"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156959"/>
                  </a:ext>
                </a:extLst>
              </a:tr>
              <a:tr h="914399">
                <a:tc>
                  <a:txBody>
                    <a:bodyPr/>
                    <a:lstStyle/>
                    <a:p>
                      <a:endParaRPr lang="es-PE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PE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"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423208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5F27ECA1-1E05-0847-8A31-EC4A8BA05F95}"/>
              </a:ext>
            </a:extLst>
          </p:cNvPr>
          <p:cNvSpPr txBox="1"/>
          <p:nvPr/>
        </p:nvSpPr>
        <p:spPr>
          <a:xfrm>
            <a:off x="820575" y="236306"/>
            <a:ext cx="102374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/>
              <a:t>f) </a:t>
            </a:r>
            <a:r>
              <a:rPr lang="es-ES" sz="4400" dirty="0" err="1"/>
              <a:t>Acceptance</a:t>
            </a:r>
            <a:r>
              <a:rPr lang="es-ES" sz="4400" dirty="0"/>
              <a:t> </a:t>
            </a:r>
            <a:r>
              <a:rPr lang="es-ES" sz="4400" dirty="0" err="1"/>
              <a:t>Tests</a:t>
            </a:r>
            <a:r>
              <a:rPr lang="es-ES" sz="4400" dirty="0"/>
              <a:t> (pruebas de aceptación)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23464361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137</Words>
  <Application>Microsoft Office PowerPoint</Application>
  <PresentationFormat>Panorámica</PresentationFormat>
  <Paragraphs>58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EXAMEN FINAL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EXAMEN FINAL</dc:title>
  <dc:creator>Andre Valverde Mozo</dc:creator>
  <cp:lastModifiedBy>Monica Priale</cp:lastModifiedBy>
  <cp:revision>12</cp:revision>
  <dcterms:created xsi:type="dcterms:W3CDTF">2023-07-05T16:04:01Z</dcterms:created>
  <dcterms:modified xsi:type="dcterms:W3CDTF">2026-02-26T22:58:16Z</dcterms:modified>
</cp:coreProperties>
</file>